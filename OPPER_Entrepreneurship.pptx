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72" r:id="rId4"/>
    <p:sldId id="258" r:id="rId5"/>
    <p:sldId id="259" r:id="rId6"/>
    <p:sldId id="261" r:id="rId7"/>
    <p:sldId id="260" r:id="rId8"/>
    <p:sldId id="265" r:id="rId9"/>
    <p:sldId id="267" r:id="rId10"/>
    <p:sldId id="263" r:id="rId11"/>
    <p:sldId id="273" r:id="rId12"/>
    <p:sldId id="268" r:id="rId13"/>
    <p:sldId id="262" r:id="rId14"/>
    <p:sldId id="276" r:id="rId15"/>
    <p:sldId id="266" r:id="rId16"/>
    <p:sldId id="274" r:id="rId17"/>
    <p:sldId id="275" r:id="rId1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428" autoAdjust="0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47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ngudeepu9@outlook.com" userId="3e6daf83b6351489" providerId="LiveId" clId="{D2E0F230-9840-4C91-A89C-6509FC195B03}"/>
    <pc:docChg chg="undo custSel addSld modSld sldOrd">
      <pc:chgData name="sangudeepu9@outlook.com" userId="3e6daf83b6351489" providerId="LiveId" clId="{D2E0F230-9840-4C91-A89C-6509FC195B03}" dt="2026-10-02T08:56:47.206" v="509" actId="1076"/>
      <pc:docMkLst>
        <pc:docMk/>
      </pc:docMkLst>
      <pc:sldChg chg="addSp delSp modSp mod">
        <pc:chgData name="sangudeepu9@outlook.com" userId="3e6daf83b6351489" providerId="LiveId" clId="{D2E0F230-9840-4C91-A89C-6509FC195B03}" dt="2026-10-02T08:36:41.548" v="298" actId="20577"/>
        <pc:sldMkLst>
          <pc:docMk/>
          <pc:sldMk cId="0" sldId="262"/>
        </pc:sldMkLst>
        <pc:spChg chg="mod">
          <ac:chgData name="sangudeepu9@outlook.com" userId="3e6daf83b6351489" providerId="LiveId" clId="{D2E0F230-9840-4C91-A89C-6509FC195B03}" dt="2026-10-02T08:35:22.317" v="222" actId="1076"/>
          <ac:spMkLst>
            <pc:docMk/>
            <pc:sldMk cId="0" sldId="262"/>
            <ac:spMk id="6" creationId="{00000000-0000-0000-0000-000000000000}"/>
          </ac:spMkLst>
        </pc:spChg>
        <pc:spChg chg="mod">
          <ac:chgData name="sangudeepu9@outlook.com" userId="3e6daf83b6351489" providerId="LiveId" clId="{D2E0F230-9840-4C91-A89C-6509FC195B03}" dt="2026-10-02T08:32:30.448" v="124" actId="1076"/>
          <ac:spMkLst>
            <pc:docMk/>
            <pc:sldMk cId="0" sldId="262"/>
            <ac:spMk id="8" creationId="{00000000-0000-0000-0000-000000000000}"/>
          </ac:spMkLst>
        </pc:spChg>
        <pc:spChg chg="mod">
          <ac:chgData name="sangudeepu9@outlook.com" userId="3e6daf83b6351489" providerId="LiveId" clId="{D2E0F230-9840-4C91-A89C-6509FC195B03}" dt="2026-10-02T08:32:34.459" v="125" actId="1076"/>
          <ac:spMkLst>
            <pc:docMk/>
            <pc:sldMk cId="0" sldId="262"/>
            <ac:spMk id="9" creationId="{00000000-0000-0000-0000-000000000000}"/>
          </ac:spMkLst>
        </pc:spChg>
        <pc:spChg chg="mod">
          <ac:chgData name="sangudeepu9@outlook.com" userId="3e6daf83b6351489" providerId="LiveId" clId="{D2E0F230-9840-4C91-A89C-6509FC195B03}" dt="2026-10-02T08:31:27.741" v="109" actId="1076"/>
          <ac:spMkLst>
            <pc:docMk/>
            <pc:sldMk cId="0" sldId="262"/>
            <ac:spMk id="10" creationId="{00000000-0000-0000-0000-000000000000}"/>
          </ac:spMkLst>
        </pc:spChg>
        <pc:spChg chg="mod">
          <ac:chgData name="sangudeepu9@outlook.com" userId="3e6daf83b6351489" providerId="LiveId" clId="{D2E0F230-9840-4C91-A89C-6509FC195B03}" dt="2026-10-02T08:35:24.007" v="223" actId="1076"/>
          <ac:spMkLst>
            <pc:docMk/>
            <pc:sldMk cId="0" sldId="262"/>
            <ac:spMk id="11" creationId="{00000000-0000-0000-0000-000000000000}"/>
          </ac:spMkLst>
        </pc:spChg>
        <pc:spChg chg="mod">
          <ac:chgData name="sangudeepu9@outlook.com" userId="3e6daf83b6351489" providerId="LiveId" clId="{D2E0F230-9840-4C91-A89C-6509FC195B03}" dt="2026-10-02T08:32:25.867" v="123" actId="1076"/>
          <ac:spMkLst>
            <pc:docMk/>
            <pc:sldMk cId="0" sldId="262"/>
            <ac:spMk id="13" creationId="{00000000-0000-0000-0000-000000000000}"/>
          </ac:spMkLst>
        </pc:spChg>
        <pc:spChg chg="mod">
          <ac:chgData name="sangudeepu9@outlook.com" userId="3e6daf83b6351489" providerId="LiveId" clId="{D2E0F230-9840-4C91-A89C-6509FC195B03}" dt="2026-10-02T08:31:49.928" v="114" actId="1076"/>
          <ac:spMkLst>
            <pc:docMk/>
            <pc:sldMk cId="0" sldId="262"/>
            <ac:spMk id="14" creationId="{00000000-0000-0000-0000-000000000000}"/>
          </ac:spMkLst>
        </pc:spChg>
        <pc:spChg chg="mod">
          <ac:chgData name="sangudeepu9@outlook.com" userId="3e6daf83b6351489" providerId="LiveId" clId="{D2E0F230-9840-4C91-A89C-6509FC195B03}" dt="2026-10-02T08:31:54.689" v="115" actId="1076"/>
          <ac:spMkLst>
            <pc:docMk/>
            <pc:sldMk cId="0" sldId="262"/>
            <ac:spMk id="15" creationId="{00000000-0000-0000-0000-000000000000}"/>
          </ac:spMkLst>
        </pc:spChg>
        <pc:spChg chg="mod">
          <ac:chgData name="sangudeepu9@outlook.com" userId="3e6daf83b6351489" providerId="LiveId" clId="{D2E0F230-9840-4C91-A89C-6509FC195B03}" dt="2026-10-02T08:36:41.548" v="298" actId="20577"/>
          <ac:spMkLst>
            <pc:docMk/>
            <pc:sldMk cId="0" sldId="262"/>
            <ac:spMk id="16" creationId="{00000000-0000-0000-0000-000000000000}"/>
          </ac:spMkLst>
        </pc:spChg>
        <pc:spChg chg="add mod">
          <ac:chgData name="sangudeepu9@outlook.com" userId="3e6daf83b6351489" providerId="LiveId" clId="{D2E0F230-9840-4C91-A89C-6509FC195B03}" dt="2026-10-02T08:35:05.903" v="219" actId="14100"/>
          <ac:spMkLst>
            <pc:docMk/>
            <pc:sldMk cId="0" sldId="262"/>
            <ac:spMk id="18" creationId="{C90CBDDF-9367-A602-7D76-1650DC0BE7AB}"/>
          </ac:spMkLst>
        </pc:spChg>
        <pc:spChg chg="add del">
          <ac:chgData name="sangudeepu9@outlook.com" userId="3e6daf83b6351489" providerId="LiveId" clId="{D2E0F230-9840-4C91-A89C-6509FC195B03}" dt="2026-10-02T08:33:08.438" v="131" actId="22"/>
          <ac:spMkLst>
            <pc:docMk/>
            <pc:sldMk cId="0" sldId="262"/>
            <ac:spMk id="20" creationId="{10A39C53-28CE-6A6E-F662-893A0BB15CB0}"/>
          </ac:spMkLst>
        </pc:spChg>
        <pc:spChg chg="add mod">
          <ac:chgData name="sangudeepu9@outlook.com" userId="3e6daf83b6351489" providerId="LiveId" clId="{D2E0F230-9840-4C91-A89C-6509FC195B03}" dt="2026-10-02T08:34:49.225" v="218" actId="20577"/>
          <ac:spMkLst>
            <pc:docMk/>
            <pc:sldMk cId="0" sldId="262"/>
            <ac:spMk id="22" creationId="{0246D2BD-AED0-EFB1-2F72-EC63F66E7EA3}"/>
          </ac:spMkLst>
        </pc:spChg>
        <pc:spChg chg="add mod">
          <ac:chgData name="sangudeepu9@outlook.com" userId="3e6daf83b6351489" providerId="LiveId" clId="{D2E0F230-9840-4C91-A89C-6509FC195B03}" dt="2026-10-02T08:35:10.964" v="220" actId="20577"/>
          <ac:spMkLst>
            <pc:docMk/>
            <pc:sldMk cId="0" sldId="262"/>
            <ac:spMk id="24" creationId="{4562024C-64C7-8452-38B6-622BB974CF37}"/>
          </ac:spMkLst>
        </pc:spChg>
        <pc:spChg chg="add mod">
          <ac:chgData name="sangudeepu9@outlook.com" userId="3e6daf83b6351489" providerId="LiveId" clId="{D2E0F230-9840-4C91-A89C-6509FC195B03}" dt="2026-10-02T08:36:24.375" v="296" actId="20577"/>
          <ac:spMkLst>
            <pc:docMk/>
            <pc:sldMk cId="0" sldId="262"/>
            <ac:spMk id="26" creationId="{DCD4D50F-8AE3-4F9E-4870-4A1772F1083B}"/>
          </ac:spMkLst>
        </pc:spChg>
      </pc:sldChg>
      <pc:sldChg chg="addSp delSp modSp mod">
        <pc:chgData name="sangudeepu9@outlook.com" userId="3e6daf83b6351489" providerId="LiveId" clId="{D2E0F230-9840-4C91-A89C-6509FC195B03}" dt="2026-10-02T08:53:45.660" v="322" actId="478"/>
        <pc:sldMkLst>
          <pc:docMk/>
          <pc:sldMk cId="0" sldId="266"/>
        </pc:sldMkLst>
        <pc:picChg chg="add del mod">
          <ac:chgData name="sangudeepu9@outlook.com" userId="3e6daf83b6351489" providerId="LiveId" clId="{D2E0F230-9840-4C91-A89C-6509FC195B03}" dt="2026-10-02T08:53:24.196" v="317" actId="931"/>
          <ac:picMkLst>
            <pc:docMk/>
            <pc:sldMk cId="0" sldId="266"/>
            <ac:picMk id="8" creationId="{F64B0412-17C8-F06E-B56D-C5C8046D5083}"/>
          </ac:picMkLst>
        </pc:picChg>
        <pc:picChg chg="add del mod">
          <ac:chgData name="sangudeepu9@outlook.com" userId="3e6daf83b6351489" providerId="LiveId" clId="{D2E0F230-9840-4C91-A89C-6509FC195B03}" dt="2026-10-02T08:53:24.196" v="317" actId="931"/>
          <ac:picMkLst>
            <pc:docMk/>
            <pc:sldMk cId="0" sldId="266"/>
            <ac:picMk id="11" creationId="{AD16D1A2-1CFF-248B-5DE4-C9373F783243}"/>
          </ac:picMkLst>
        </pc:picChg>
        <pc:picChg chg="add del mod">
          <ac:chgData name="sangudeepu9@outlook.com" userId="3e6daf83b6351489" providerId="LiveId" clId="{D2E0F230-9840-4C91-A89C-6509FC195B03}" dt="2026-10-02T08:53:24.196" v="317" actId="931"/>
          <ac:picMkLst>
            <pc:docMk/>
            <pc:sldMk cId="0" sldId="266"/>
            <ac:picMk id="14" creationId="{1DBFB766-E728-C269-A93D-85DE4F023C0B}"/>
          </ac:picMkLst>
        </pc:picChg>
        <pc:picChg chg="add del mod">
          <ac:chgData name="sangudeepu9@outlook.com" userId="3e6daf83b6351489" providerId="LiveId" clId="{D2E0F230-9840-4C91-A89C-6509FC195B03}" dt="2026-10-02T08:53:45.660" v="322" actId="478"/>
          <ac:picMkLst>
            <pc:docMk/>
            <pc:sldMk cId="0" sldId="266"/>
            <ac:picMk id="17" creationId="{16300E58-36A1-2B2E-33FE-4356FBAF82E4}"/>
          </ac:picMkLst>
        </pc:picChg>
      </pc:sldChg>
      <pc:sldChg chg="addSp delSp modSp new mod">
        <pc:chgData name="sangudeepu9@outlook.com" userId="3e6daf83b6351489" providerId="LiveId" clId="{D2E0F230-9840-4C91-A89C-6509FC195B03}" dt="2026-10-02T08:43:26.686" v="307" actId="478"/>
        <pc:sldMkLst>
          <pc:docMk/>
          <pc:sldMk cId="2279315594" sldId="274"/>
        </pc:sldMkLst>
        <pc:picChg chg="add mod">
          <ac:chgData name="sangudeepu9@outlook.com" userId="3e6daf83b6351489" providerId="LiveId" clId="{D2E0F230-9840-4C91-A89C-6509FC195B03}" dt="2026-10-02T08:41:25.006" v="300" actId="931"/>
          <ac:picMkLst>
            <pc:docMk/>
            <pc:sldMk cId="2279315594" sldId="274"/>
            <ac:picMk id="3" creationId="{9D5F05CD-1752-5A48-5B2B-841CE611D074}"/>
          </ac:picMkLst>
        </pc:picChg>
        <pc:picChg chg="add del mod">
          <ac:chgData name="sangudeepu9@outlook.com" userId="3e6daf83b6351489" providerId="LiveId" clId="{D2E0F230-9840-4C91-A89C-6509FC195B03}" dt="2026-10-02T08:43:26.686" v="307" actId="478"/>
          <ac:picMkLst>
            <pc:docMk/>
            <pc:sldMk cId="2279315594" sldId="274"/>
            <ac:picMk id="5" creationId="{049C3B1E-06B1-5EB5-5902-5ADA541F893C}"/>
          </ac:picMkLst>
        </pc:picChg>
      </pc:sldChg>
      <pc:sldChg chg="addSp modSp new mod">
        <pc:chgData name="sangudeepu9@outlook.com" userId="3e6daf83b6351489" providerId="LiveId" clId="{D2E0F230-9840-4C91-A89C-6509FC195B03}" dt="2026-10-02T08:43:22.054" v="306" actId="14100"/>
        <pc:sldMkLst>
          <pc:docMk/>
          <pc:sldMk cId="3801453720" sldId="275"/>
        </pc:sldMkLst>
        <pc:picChg chg="add mod">
          <ac:chgData name="sangudeepu9@outlook.com" userId="3e6daf83b6351489" providerId="LiveId" clId="{D2E0F230-9840-4C91-A89C-6509FC195B03}" dt="2026-10-02T08:43:22.054" v="306" actId="14100"/>
          <ac:picMkLst>
            <pc:docMk/>
            <pc:sldMk cId="3801453720" sldId="275"/>
            <ac:picMk id="3" creationId="{31C2FEE0-9DDC-F866-718C-DA465E080EE3}"/>
          </ac:picMkLst>
        </pc:picChg>
      </pc:sldChg>
      <pc:sldChg chg="addSp delSp modSp add mod ord">
        <pc:chgData name="sangudeepu9@outlook.com" userId="3e6daf83b6351489" providerId="LiveId" clId="{D2E0F230-9840-4C91-A89C-6509FC195B03}" dt="2026-10-02T08:56:47.206" v="509" actId="1076"/>
        <pc:sldMkLst>
          <pc:docMk/>
          <pc:sldMk cId="2503514657" sldId="276"/>
        </pc:sldMkLst>
        <pc:spChg chg="mod">
          <ac:chgData name="sangudeepu9@outlook.com" userId="3e6daf83b6351489" providerId="LiveId" clId="{D2E0F230-9840-4C91-A89C-6509FC195B03}" dt="2026-10-02T08:54:01.836" v="329" actId="20577"/>
          <ac:spMkLst>
            <pc:docMk/>
            <pc:sldMk cId="2503514657" sldId="276"/>
            <ac:spMk id="3" creationId="{288FA7E8-5CA0-14A0-1829-D9BAB82E5088}"/>
          </ac:spMkLst>
        </pc:spChg>
        <pc:spChg chg="del mod">
          <ac:chgData name="sangudeepu9@outlook.com" userId="3e6daf83b6351489" providerId="LiveId" clId="{D2E0F230-9840-4C91-A89C-6509FC195B03}" dt="2026-10-02T08:53:55.750" v="327" actId="478"/>
          <ac:spMkLst>
            <pc:docMk/>
            <pc:sldMk cId="2503514657" sldId="276"/>
            <ac:spMk id="4" creationId="{17FFE085-4987-FA93-A721-815B37092379}"/>
          </ac:spMkLst>
        </pc:spChg>
        <pc:spChg chg="mod">
          <ac:chgData name="sangudeepu9@outlook.com" userId="3e6daf83b6351489" providerId="LiveId" clId="{D2E0F230-9840-4C91-A89C-6509FC195B03}" dt="2026-10-02T08:54:05.611" v="330" actId="6549"/>
          <ac:spMkLst>
            <pc:docMk/>
            <pc:sldMk cId="2503514657" sldId="276"/>
            <ac:spMk id="5" creationId="{92FD7F62-2213-CDAD-828D-1662DA0CFD69}"/>
          </ac:spMkLst>
        </pc:spChg>
        <pc:spChg chg="mod">
          <ac:chgData name="sangudeepu9@outlook.com" userId="3e6daf83b6351489" providerId="LiveId" clId="{D2E0F230-9840-4C91-A89C-6509FC195B03}" dt="2026-10-02T08:56:19.218" v="503" actId="6549"/>
          <ac:spMkLst>
            <pc:docMk/>
            <pc:sldMk cId="2503514657" sldId="276"/>
            <ac:spMk id="9" creationId="{C1607C4A-622E-0636-2311-F55047736E2D}"/>
          </ac:spMkLst>
        </pc:spChg>
        <pc:spChg chg="mod">
          <ac:chgData name="sangudeepu9@outlook.com" userId="3e6daf83b6351489" providerId="LiveId" clId="{D2E0F230-9840-4C91-A89C-6509FC195B03}" dt="2026-10-02T08:56:43.097" v="508" actId="313"/>
          <ac:spMkLst>
            <pc:docMk/>
            <pc:sldMk cId="2503514657" sldId="276"/>
            <ac:spMk id="15" creationId="{008803D9-CFBB-097B-FE1A-4BE585D43AA1}"/>
          </ac:spMkLst>
        </pc:spChg>
        <pc:picChg chg="del">
          <ac:chgData name="sangudeepu9@outlook.com" userId="3e6daf83b6351489" providerId="LiveId" clId="{D2E0F230-9840-4C91-A89C-6509FC195B03}" dt="2026-10-02T08:53:50.178" v="325" actId="478"/>
          <ac:picMkLst>
            <pc:docMk/>
            <pc:sldMk cId="2503514657" sldId="276"/>
            <ac:picMk id="7" creationId="{3DA99FB2-2330-849B-9F00-7EFE9032C57E}"/>
          </ac:picMkLst>
        </pc:picChg>
        <pc:picChg chg="add mod">
          <ac:chgData name="sangudeepu9@outlook.com" userId="3e6daf83b6351489" providerId="LiveId" clId="{D2E0F230-9840-4C91-A89C-6509FC195B03}" dt="2026-10-02T08:56:32.275" v="505" actId="1076"/>
          <ac:picMkLst>
            <pc:docMk/>
            <pc:sldMk cId="2503514657" sldId="276"/>
            <ac:picMk id="8" creationId="{3EABECCB-4D32-526D-EC5E-D213DB869BC2}"/>
          </ac:picMkLst>
        </pc:picChg>
        <pc:picChg chg="add mod">
          <ac:chgData name="sangudeepu9@outlook.com" userId="3e6daf83b6351489" providerId="LiveId" clId="{D2E0F230-9840-4C91-A89C-6509FC195B03}" dt="2026-10-02T08:56:47.206" v="509" actId="1076"/>
          <ac:picMkLst>
            <pc:docMk/>
            <pc:sldMk cId="2503514657" sldId="276"/>
            <ac:picMk id="11" creationId="{D8EE1507-420F-EEF4-33D8-47FBFD035FCA}"/>
          </ac:picMkLst>
        </pc:picChg>
        <pc:picChg chg="mod">
          <ac:chgData name="sangudeepu9@outlook.com" userId="3e6daf83b6351489" providerId="LiveId" clId="{D2E0F230-9840-4C91-A89C-6509FC195B03}" dt="2026-10-02T08:56:27.907" v="504" actId="14100"/>
          <ac:picMkLst>
            <pc:docMk/>
            <pc:sldMk cId="2503514657" sldId="276"/>
            <ac:picMk id="17" creationId="{FE52CE45-339B-0A72-1C6C-88379A26915D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226803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F41D61-3C3C-7E94-41E2-03A254290E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F58109C-6A3A-108E-C7F3-0EC6DE457C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1C5BBEA-C6C1-B554-D24C-C9AC10A519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4D2114-C6D4-9672-9D9F-F9659B13FDB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559307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BBE1E9-6521-81A9-348E-CC5FFACFFA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85C3B47-F3C7-0344-23EC-88B8F4242BD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CDB5DB3-8FDC-F1A9-9F0E-E50FF15854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22C654-69AC-5E30-B92E-39C191587AC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04367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jpe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jpeg"/><Relationship Id="rId5" Type="http://schemas.openxmlformats.org/officeDocument/2006/relationships/image" Target="../media/image24.jpeg"/><Relationship Id="rId4" Type="http://schemas.openxmlformats.org/officeDocument/2006/relationships/image" Target="../media/image23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6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B4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18120" y="777240"/>
            <a:ext cx="3749040" cy="3749040"/>
          </a:xfrm>
          <a:prstGeom prst="ellipse">
            <a:avLst/>
          </a:prstGeom>
          <a:solidFill>
            <a:srgbClr val="C89B3C">
              <a:alpha val="12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640080" y="54864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400" b="1" kern="0" spc="200" dirty="0">
                <a:solidFill>
                  <a:srgbClr val="C89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OPPER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685800" y="1325880"/>
            <a:ext cx="7315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kern="0" spc="300" dirty="0">
                <a:solidFill>
                  <a:srgbClr val="F5E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ORGANIC SOAP &amp; SKINCARE</a:t>
            </a:r>
          </a:p>
        </p:txBody>
      </p:sp>
      <p:sp>
        <p:nvSpPr>
          <p:cNvPr id="5" name="Text 3"/>
          <p:cNvSpPr/>
          <p:nvPr/>
        </p:nvSpPr>
        <p:spPr>
          <a:xfrm>
            <a:off x="640080" y="214884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Entrepreneurship Journey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40080" y="28346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F5E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Handmade, Pure &amp; Organic Saffron Soap — shared with MBA students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640080" y="397764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C89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GEETHA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640080" y="448056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5E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Founder, OPPER Organic Soap &amp; Skincare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640080" y="598932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5E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Professional  •  Entrepreneur  •  Motivator  •  Dreamer</a:t>
            </a:r>
            <a:endParaRPr lang="en-US" sz="12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FE6A16CD-FF07-CA75-5AED-91E782E688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777240"/>
            <a:ext cx="3749039" cy="3703320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1"/>
          <p:cNvSpPr/>
          <p:nvPr/>
        </p:nvSpPr>
        <p:spPr>
          <a:xfrm>
            <a:off x="4206240" y="77724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3B4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HI, I'M GEETHA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4206240" y="13716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8A3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working professional, a mother, and a dreamer.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4206240" y="1965960"/>
            <a:ext cx="72237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2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always believed in living a life of meaning. My journey as an entrepreneur began with a simple desire — to create products and experiences that bring wellness, joy, and sustainability into everyday life. That belief grew into OPPER, my organic soap and skincare brand rooted in nature.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4206240" y="3794760"/>
            <a:ext cx="109728" cy="109728"/>
          </a:xfrm>
          <a:prstGeom prst="ellipse">
            <a:avLst/>
          </a:prstGeom>
          <a:solidFill>
            <a:srgbClr val="C89B3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4434840" y="3639312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3B4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 &amp; Motivator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4434840" y="393192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Balancing a professional career with an entrepreneurial journey, with grace.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206240" y="4480560"/>
            <a:ext cx="109728" cy="109728"/>
          </a:xfrm>
          <a:prstGeom prst="ellipse">
            <a:avLst/>
          </a:prstGeom>
          <a:solidFill>
            <a:srgbClr val="C89B3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8"/>
          <p:cNvSpPr/>
          <p:nvPr/>
        </p:nvSpPr>
        <p:spPr>
          <a:xfrm>
            <a:off x="4434840" y="4325112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3B4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Purpose-Driven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4434840" y="461772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brands that uplift lives and give back to the community.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4206240" y="5166360"/>
            <a:ext cx="109728" cy="109728"/>
          </a:xfrm>
          <a:prstGeom prst="ellipse">
            <a:avLst/>
          </a:prstGeom>
          <a:solidFill>
            <a:srgbClr val="C89B3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1"/>
          <p:cNvSpPr/>
          <p:nvPr/>
        </p:nvSpPr>
        <p:spPr>
          <a:xfrm>
            <a:off x="4434840" y="5010912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3B4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 Every Day</a:t>
            </a:r>
            <a:endParaRPr lang="en-US" sz="1450" dirty="0"/>
          </a:p>
        </p:txBody>
      </p:sp>
      <p:sp>
        <p:nvSpPr>
          <p:cNvPr id="15" name="Text 12"/>
          <p:cNvSpPr/>
          <p:nvPr/>
        </p:nvSpPr>
        <p:spPr>
          <a:xfrm>
            <a:off x="4434840" y="530352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Grateful for the journey so far, excited for what's ahead.</a:t>
            </a:r>
            <a:endParaRPr lang="en-US" sz="1250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6B6B0D8B-39B8-0D4A-5D00-FB8DD2313C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1939" y="827999"/>
            <a:ext cx="3099007" cy="3094964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B4A2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7BFD123-AAC5-9041-B12B-44B777F7AC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862C0238-5742-908B-4EBE-74A334FFF8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7266" y="0"/>
            <a:ext cx="2335464" cy="2152650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5510337-A9F6-88ED-F34D-989B56769E81}"/>
              </a:ext>
            </a:extLst>
          </p:cNvPr>
          <p:cNvSpPr txBox="1"/>
          <p:nvPr/>
        </p:nvSpPr>
        <p:spPr>
          <a:xfrm>
            <a:off x="277586" y="1414217"/>
            <a:ext cx="10443287" cy="47551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500" b="1" dirty="0">
                <a:solidFill>
                  <a:schemeClr val="bg1"/>
                </a:solidFill>
              </a:rPr>
              <a:t>~50 million</a:t>
            </a:r>
            <a:r>
              <a:rPr lang="en-IN" sz="1500" dirty="0">
                <a:solidFill>
                  <a:schemeClr val="bg1"/>
                </a:solidFill>
              </a:rPr>
              <a:t> new businesses are started globally every year.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500" dirty="0">
                <a:solidFill>
                  <a:schemeClr val="bg1"/>
                </a:solidFill>
              </a:rPr>
              <a:t>Maharashtra, Karnataka, Uttar Pradesh, Delhi and Gujarat are the top </a:t>
            </a:r>
            <a:r>
              <a:rPr lang="en-IN" sz="1500" dirty="0"/>
              <a:t>startup hubs by the number of recognized startups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500" b="1" dirty="0">
                <a:solidFill>
                  <a:schemeClr val="bg1"/>
                </a:solidFill>
              </a:rPr>
              <a:t>Around 50% of startups</a:t>
            </a:r>
            <a:r>
              <a:rPr lang="en-IN" sz="1500" dirty="0">
                <a:solidFill>
                  <a:schemeClr val="bg1"/>
                </a:solidFill>
              </a:rPr>
              <a:t> originate from </a:t>
            </a:r>
            <a:r>
              <a:rPr lang="en-IN" sz="1500" b="1" dirty="0">
                <a:solidFill>
                  <a:schemeClr val="bg1"/>
                </a:solidFill>
              </a:rPr>
              <a:t>Tier-II and Tier-III cities</a:t>
            </a:r>
            <a:r>
              <a:rPr lang="en-IN" sz="1500" dirty="0">
                <a:solidFill>
                  <a:schemeClr val="bg1"/>
                </a:solidFill>
              </a:rPr>
              <a:t>, </a:t>
            </a:r>
            <a:r>
              <a:rPr lang="en-IN" sz="1500" dirty="0"/>
              <a:t>showing entrepreneurship is spreading beyond major metros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500" dirty="0">
                <a:solidFill>
                  <a:schemeClr val="bg1"/>
                </a:solidFill>
              </a:rPr>
              <a:t>India is the </a:t>
            </a:r>
            <a:r>
              <a:rPr lang="en-IN" sz="1500" b="1" dirty="0">
                <a:solidFill>
                  <a:schemeClr val="bg1"/>
                </a:solidFill>
              </a:rPr>
              <a:t>3rd-largest startup ecosystem in the world</a:t>
            </a:r>
            <a:r>
              <a:rPr lang="en-IN" sz="1500" dirty="0"/>
              <a:t>, with </a:t>
            </a:r>
            <a:r>
              <a:rPr lang="en-IN" sz="1500" b="1" dirty="0"/>
              <a:t>120+ unicorns</a:t>
            </a:r>
            <a:r>
              <a:rPr lang="en-IN" sz="1500" dirty="0"/>
              <a:t> valued at over </a:t>
            </a:r>
            <a:r>
              <a:rPr lang="en-IN" sz="1500" b="1" dirty="0"/>
              <a:t>US$350 billion</a:t>
            </a:r>
            <a:r>
              <a:rPr lang="en-IN" sz="1500" dirty="0"/>
              <a:t> combined</a:t>
            </a:r>
            <a:endParaRPr lang="en-IN" dirty="0"/>
          </a:p>
          <a:p>
            <a:endParaRPr lang="en-IN" sz="1500" dirty="0">
              <a:solidFill>
                <a:schemeClr val="bg1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500" b="1" dirty="0">
                <a:solidFill>
                  <a:schemeClr val="bg1"/>
                </a:solidFill>
              </a:rPr>
              <a:t>About 20%</a:t>
            </a:r>
            <a:r>
              <a:rPr lang="en-IN" sz="1500" dirty="0">
                <a:solidFill>
                  <a:schemeClr val="bg1"/>
                </a:solidFill>
              </a:rPr>
              <a:t> of new businesses fail within their </a:t>
            </a:r>
            <a:r>
              <a:rPr lang="en-IN" sz="1500" b="1" dirty="0">
                <a:solidFill>
                  <a:schemeClr val="bg1"/>
                </a:solidFill>
              </a:rPr>
              <a:t>first year -  </a:t>
            </a:r>
            <a:r>
              <a:rPr lang="en-IN" sz="1500" b="1" dirty="0"/>
              <a:t>Lack of discipline and planning in the start ups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500" b="1" dirty="0">
                <a:solidFill>
                  <a:schemeClr val="bg1"/>
                </a:solidFill>
              </a:rPr>
              <a:t>Around 50%</a:t>
            </a:r>
            <a:r>
              <a:rPr lang="en-IN" sz="1500" dirty="0">
                <a:solidFill>
                  <a:schemeClr val="bg1"/>
                </a:solidFill>
              </a:rPr>
              <a:t> fail within </a:t>
            </a:r>
            <a:r>
              <a:rPr lang="en-IN" sz="1500" b="1" dirty="0">
                <a:solidFill>
                  <a:schemeClr val="bg1"/>
                </a:solidFill>
              </a:rPr>
              <a:t>five years - </a:t>
            </a:r>
            <a:r>
              <a:rPr lang="en-IN" sz="1500" b="1" dirty="0"/>
              <a:t>No market need</a:t>
            </a:r>
            <a:r>
              <a:rPr lang="en-IN" sz="1500" dirty="0"/>
              <a:t> is the leading reason for startup failure (about </a:t>
            </a:r>
            <a:r>
              <a:rPr lang="en-IN" sz="1500" b="1" dirty="0"/>
              <a:t>35–42%</a:t>
            </a:r>
            <a:r>
              <a:rPr lang="en-IN" sz="1500" dirty="0"/>
              <a:t> of cases</a:t>
            </a:r>
            <a:r>
              <a:rPr lang="en-IN" sz="1500" dirty="0">
                <a:solidFill>
                  <a:schemeClr val="bg1"/>
                </a:solidFill>
              </a:rPr>
              <a:t>)</a:t>
            </a:r>
            <a:endParaRPr lang="en-IN" sz="1500" b="1" dirty="0">
              <a:solidFill>
                <a:schemeClr val="bg1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500" b="1" dirty="0">
                <a:solidFill>
                  <a:schemeClr val="bg1"/>
                </a:solidFill>
              </a:rPr>
              <a:t>About 65%</a:t>
            </a:r>
            <a:r>
              <a:rPr lang="en-IN" sz="1500" dirty="0">
                <a:solidFill>
                  <a:schemeClr val="bg1"/>
                </a:solidFill>
              </a:rPr>
              <a:t> fail within </a:t>
            </a:r>
            <a:r>
              <a:rPr lang="en-IN" sz="1500" b="1" dirty="0">
                <a:solidFill>
                  <a:schemeClr val="bg1"/>
                </a:solidFill>
              </a:rPr>
              <a:t>ten years </a:t>
            </a:r>
            <a:r>
              <a:rPr lang="en-IN" sz="1500" b="1" dirty="0"/>
              <a:t>– For not innovating, upgrading or growth in the existing market  / completion ) </a:t>
            </a:r>
            <a:r>
              <a:rPr lang="en-IN" sz="1500" b="1" dirty="0" err="1"/>
              <a:t>eg</a:t>
            </a:r>
            <a:r>
              <a:rPr lang="en-IN" sz="1500" b="1" dirty="0"/>
              <a:t> Nokia</a:t>
            </a:r>
            <a:r>
              <a:rPr lang="en-IN" sz="1500" b="1" dirty="0">
                <a:solidFill>
                  <a:schemeClr val="bg1"/>
                </a:solidFill>
              </a:rPr>
              <a:t>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500" b="1" dirty="0">
                <a:solidFill>
                  <a:schemeClr val="bg1"/>
                </a:solidFill>
              </a:rPr>
              <a:t>Running out of cash</a:t>
            </a:r>
            <a:r>
              <a:rPr lang="en-IN" sz="1500" dirty="0">
                <a:solidFill>
                  <a:schemeClr val="bg1"/>
                </a:solidFill>
              </a:rPr>
              <a:t> is another major reason (about </a:t>
            </a:r>
            <a:r>
              <a:rPr lang="en-IN" sz="1500" b="1" dirty="0">
                <a:solidFill>
                  <a:schemeClr val="bg1"/>
                </a:solidFill>
              </a:rPr>
              <a:t>29–38%</a:t>
            </a:r>
            <a:r>
              <a:rPr lang="en-IN" sz="1500" dirty="0">
                <a:solidFill>
                  <a:schemeClr val="bg1"/>
                </a:solidFill>
              </a:rPr>
              <a:t> of startup failures)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500" dirty="0">
                <a:solidFill>
                  <a:schemeClr val="bg1"/>
                </a:solidFill>
              </a:rPr>
              <a:t>MSMEs contribute </a:t>
            </a:r>
            <a:r>
              <a:rPr lang="en-IN" sz="1500" b="1" dirty="0">
                <a:solidFill>
                  <a:schemeClr val="bg1"/>
                </a:solidFill>
              </a:rPr>
              <a:t>31.1% of India's GDP</a:t>
            </a:r>
            <a:r>
              <a:rPr lang="en-IN" sz="1500" dirty="0">
                <a:solidFill>
                  <a:schemeClr val="bg1"/>
                </a:solidFill>
              </a:rPr>
              <a:t>, </a:t>
            </a:r>
            <a:r>
              <a:rPr lang="en-IN" sz="1500" b="1" dirty="0">
                <a:solidFill>
                  <a:schemeClr val="bg1"/>
                </a:solidFill>
              </a:rPr>
              <a:t>35.4% of manufacturing output</a:t>
            </a:r>
            <a:r>
              <a:rPr lang="en-IN" sz="1500" dirty="0">
                <a:solidFill>
                  <a:schemeClr val="bg1"/>
                </a:solidFill>
              </a:rPr>
              <a:t>, and </a:t>
            </a:r>
            <a:r>
              <a:rPr lang="en-IN" sz="1500" b="1" dirty="0">
                <a:solidFill>
                  <a:schemeClr val="bg1"/>
                </a:solidFill>
              </a:rPr>
              <a:t>48.58% </a:t>
            </a:r>
            <a:r>
              <a:rPr lang="en-IN" sz="1500" b="1" dirty="0"/>
              <a:t>of exports</a:t>
            </a:r>
            <a:r>
              <a:rPr lang="en-IN" sz="1500" dirty="0"/>
              <a:t>, making them a major pillar of India's economy</a:t>
            </a:r>
          </a:p>
          <a:p>
            <a:endParaRPr lang="en-IN" sz="1800" dirty="0"/>
          </a:p>
          <a:p>
            <a:r>
              <a:rPr lang="en-IN" sz="1500" b="1" dirty="0"/>
              <a:t>Key takeaway</a:t>
            </a:r>
          </a:p>
          <a:p>
            <a:r>
              <a:rPr lang="en-IN" sz="1500" dirty="0">
                <a:solidFill>
                  <a:schemeClr val="bg1"/>
                </a:solidFill>
              </a:rPr>
              <a:t>India has one of the world's fastest-growing entrepreneurial ecosystems, backed by a strong startup culture, government support, expanding digital commerce, and a large MSME base. This creates significant opportunities for entrepreneurs starting businesses in manufacturing, services, technology, and consumer products.</a:t>
            </a:r>
          </a:p>
          <a:p>
            <a:endParaRPr lang="en-IN" sz="1500" dirty="0">
              <a:solidFill>
                <a:schemeClr val="bg1"/>
              </a:solidFill>
            </a:endParaRPr>
          </a:p>
          <a:p>
            <a:r>
              <a:rPr lang="en-IN" sz="1500" dirty="0">
                <a:solidFill>
                  <a:schemeClr val="bg1"/>
                </a:solidFill>
              </a:rPr>
              <a:t>Adding to the above I have worked with top MNC – Like IBM, Capgemini, Hp ,TCS ,Shell and Benz co, Apple</a:t>
            </a:r>
          </a:p>
          <a:p>
            <a:r>
              <a:rPr lang="en-IN" sz="1500" dirty="0">
                <a:solidFill>
                  <a:schemeClr val="bg1"/>
                </a:solidFill>
              </a:rPr>
              <a:t>Apple  started in small Garage along with </a:t>
            </a:r>
            <a:r>
              <a:rPr lang="en-IN" sz="1500" dirty="0" err="1">
                <a:solidFill>
                  <a:schemeClr val="bg1"/>
                </a:solidFill>
              </a:rPr>
              <a:t>Setve</a:t>
            </a:r>
            <a:r>
              <a:rPr lang="en-IN" sz="1500" dirty="0">
                <a:solidFill>
                  <a:schemeClr val="bg1"/>
                </a:solidFill>
              </a:rPr>
              <a:t> jobs Founded in a California garage on April 1, 1976, </a:t>
            </a:r>
          </a:p>
          <a:p>
            <a:r>
              <a:rPr lang="en-IN" sz="1500" dirty="0">
                <a:solidFill>
                  <a:schemeClr val="bg1"/>
                </a:solidFill>
              </a:rPr>
              <a:t>HP in 1939 – Garage by Bill </a:t>
            </a:r>
            <a:r>
              <a:rPr lang="en-IN" sz="1500" dirty="0" err="1">
                <a:solidFill>
                  <a:schemeClr val="bg1"/>
                </a:solidFill>
              </a:rPr>
              <a:t>Hewlette</a:t>
            </a:r>
            <a:r>
              <a:rPr lang="en-IN" sz="1500" dirty="0">
                <a:solidFill>
                  <a:schemeClr val="bg1"/>
                </a:solidFill>
              </a:rPr>
              <a:t> Packard – audio </a:t>
            </a:r>
            <a:r>
              <a:rPr lang="en-IN" sz="1500" dirty="0" err="1">
                <a:solidFill>
                  <a:schemeClr val="bg1"/>
                </a:solidFill>
              </a:rPr>
              <a:t>ausiclator</a:t>
            </a:r>
            <a:r>
              <a:rPr lang="en-IN" sz="1500" dirty="0">
                <a:solidFill>
                  <a:schemeClr val="bg1"/>
                </a:solidFill>
              </a:rPr>
              <a:t> , scientific calculator etc.</a:t>
            </a:r>
          </a:p>
        </p:txBody>
      </p:sp>
      <p:sp>
        <p:nvSpPr>
          <p:cNvPr id="14" name="Text 1">
            <a:extLst>
              <a:ext uri="{FF2B5EF4-FFF2-40B4-BE49-F238E27FC236}">
                <a16:creationId xmlns:a16="http://schemas.microsoft.com/office/drawing/2014/main" id="{852B834D-1B93-475B-A23D-0A560EC03F19}"/>
              </a:ext>
            </a:extLst>
          </p:cNvPr>
          <p:cNvSpPr/>
          <p:nvPr/>
        </p:nvSpPr>
        <p:spPr>
          <a:xfrm>
            <a:off x="479270" y="599428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</a:rPr>
              <a:t>Statistics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27922644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240" cy="6858000"/>
          </a:xfrm>
          <a:prstGeom prst="roundRect">
            <a:avLst/>
          </a:prstGeom>
          <a:solidFill>
            <a:srgbClr val="3B4A2B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" name="Image 0" descr="/home/claude/opper_deck/icon_seedling_go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205740"/>
            <a:ext cx="914400" cy="9144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141732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C89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MY STORY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640080" y="2011680"/>
            <a:ext cx="3108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i="1" dirty="0">
                <a:solidFill>
                  <a:srgbClr val="F5EF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a Dream to a</a:t>
            </a:r>
            <a:endParaRPr lang="en-US" sz="16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600" i="1" dirty="0">
                <a:solidFill>
                  <a:srgbClr val="F5EF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Purpose-Driven Journey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4709160" y="822960"/>
            <a:ext cx="6858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2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big brand starts with one small, honest reason. Mine was simply the wish to become an entrepreneur Be My Own Boss — to build something of my own, rooted in purity and purpose.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4709160" y="1874520"/>
            <a:ext cx="6858000" cy="1417320"/>
          </a:xfrm>
          <a:prstGeom prst="roundRect">
            <a:avLst>
              <a:gd name="adj" fmla="val 5161"/>
            </a:avLst>
          </a:prstGeom>
          <a:solidFill>
            <a:srgbClr val="F4EFE3"/>
          </a:solidFill>
          <a:ln/>
          <a:effectLst>
            <a:outerShdw blurRad="101600" dist="38100" dir="27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Text 5"/>
          <p:cNvSpPr/>
          <p:nvPr/>
        </p:nvSpPr>
        <p:spPr>
          <a:xfrm>
            <a:off x="5394960" y="2011680"/>
            <a:ext cx="59436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500" i="1" dirty="0">
                <a:solidFill>
                  <a:srgbClr val="3B4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"Small or big — dreaming of what you wish to become is an individual choice. I chose to dream of OPPER.“ </a:t>
            </a:r>
          </a:p>
          <a:p>
            <a:pPr marL="0" indent="0">
              <a:lnSpc>
                <a:spcPct val="125000"/>
              </a:lnSpc>
              <a:buNone/>
            </a:pP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4709160" y="3520440"/>
            <a:ext cx="6858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2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passion took shape as OPPER — a handmade, pure and organic saffron soap brand, crafted with goat milk, saffron, ayurvedic herbs, and nourishing oils. Every bar carries a promise: skincare that is natural, chemical-free, and made with care.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4709160" y="5029200"/>
            <a:ext cx="6858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i="1" dirty="0">
                <a:solidFill>
                  <a:srgbClr val="6B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vision didn't stop there — it also gave birth to GEET, a sister brand for eco-friendly, personalized gifting.</a:t>
            </a:r>
            <a:endParaRPr lang="en-US" sz="135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7166E697-09C1-3158-9CEE-1775A21D2F6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2705" y="3154680"/>
            <a:ext cx="3466335" cy="3250786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51560" y="501987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B4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OPPER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8A3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Organic Soap &amp; Skincare, rooted in nature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40080" y="1508760"/>
            <a:ext cx="6309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2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Crafted with the goodness of goat milk, saffron, ayurvedic herbs and nourishing oils — OPPER is my promise of pure, natural, chemical-free skincare that nurtures skin and soul.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880360"/>
            <a:ext cx="1508760" cy="1508760"/>
          </a:xfrm>
          <a:prstGeom prst="roundRect">
            <a:avLst>
              <a:gd name="adj" fmla="val 7273"/>
            </a:avLst>
          </a:prstGeom>
          <a:solidFill>
            <a:srgbClr val="F4EFE3"/>
          </a:solidFill>
          <a:ln/>
          <a:effectLst>
            <a:outerShdw blurRad="101600" dist="38100" dir="27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6" name="Image 0" descr="/home/claude/opper_deck/icon_leaf_oliv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" cy="9144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3703320"/>
            <a:ext cx="16916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B4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Ingredients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2331720" y="2880360"/>
            <a:ext cx="1508760" cy="1508760"/>
          </a:xfrm>
          <a:prstGeom prst="roundRect">
            <a:avLst>
              <a:gd name="adj" fmla="val 7273"/>
            </a:avLst>
          </a:prstGeom>
          <a:solidFill>
            <a:srgbClr val="F4EFE3"/>
          </a:solidFill>
          <a:ln/>
          <a:effectLst>
            <a:outerShdw blurRad="101600" dist="38100" dir="27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Text 6"/>
          <p:cNvSpPr/>
          <p:nvPr/>
        </p:nvSpPr>
        <p:spPr>
          <a:xfrm>
            <a:off x="2240280" y="3703320"/>
            <a:ext cx="16916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B4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Organic Goodness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4023360" y="2880360"/>
            <a:ext cx="1508760" cy="1508760"/>
          </a:xfrm>
          <a:prstGeom prst="roundRect">
            <a:avLst>
              <a:gd name="adj" fmla="val 7273"/>
            </a:avLst>
          </a:prstGeom>
          <a:solidFill>
            <a:srgbClr val="F4EFE3"/>
          </a:solidFill>
          <a:ln/>
          <a:effectLst>
            <a:outerShdw blurRad="101600" dist="38100" dir="27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Text 8"/>
          <p:cNvSpPr/>
          <p:nvPr/>
        </p:nvSpPr>
        <p:spPr>
          <a:xfrm>
            <a:off x="3931920" y="3703320"/>
            <a:ext cx="16916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B4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Chemical Free</a:t>
            </a:r>
            <a:endParaRPr lang="en-US" sz="1100" dirty="0"/>
          </a:p>
        </p:txBody>
      </p:sp>
      <p:sp>
        <p:nvSpPr>
          <p:cNvPr id="14" name="Shape 9"/>
          <p:cNvSpPr/>
          <p:nvPr/>
        </p:nvSpPr>
        <p:spPr>
          <a:xfrm>
            <a:off x="5715000" y="2880360"/>
            <a:ext cx="1508760" cy="1508760"/>
          </a:xfrm>
          <a:prstGeom prst="roundRect">
            <a:avLst>
              <a:gd name="adj" fmla="val 7273"/>
            </a:avLst>
          </a:prstGeom>
          <a:solidFill>
            <a:srgbClr val="F4EFE3"/>
          </a:solidFill>
          <a:ln/>
          <a:effectLst>
            <a:outerShdw blurRad="101600" dist="38100" dir="27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Text 10"/>
          <p:cNvSpPr/>
          <p:nvPr/>
        </p:nvSpPr>
        <p:spPr>
          <a:xfrm>
            <a:off x="5623560" y="3703320"/>
            <a:ext cx="16916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B4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Nourishment</a:t>
            </a:r>
            <a:endParaRPr lang="en-US" sz="1100" dirty="0"/>
          </a:p>
        </p:txBody>
      </p:sp>
      <p:sp>
        <p:nvSpPr>
          <p:cNvPr id="17" name="Text 11"/>
          <p:cNvSpPr/>
          <p:nvPr/>
        </p:nvSpPr>
        <p:spPr>
          <a:xfrm>
            <a:off x="640080" y="4892040"/>
            <a:ext cx="6309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B4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Premium Goat Milk &amp; Saffron Bathing Bar</a:t>
            </a:r>
            <a:endParaRPr lang="en-US" sz="1400" dirty="0"/>
          </a:p>
        </p:txBody>
      </p:sp>
      <p:sp>
        <p:nvSpPr>
          <p:cNvPr id="18" name="Text 12"/>
          <p:cNvSpPr/>
          <p:nvPr/>
        </p:nvSpPr>
        <p:spPr>
          <a:xfrm>
            <a:off x="640080" y="5257800"/>
            <a:ext cx="6309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6B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Luxury rooted in nature — my flagship product, handcrafted in small batches.</a:t>
            </a:r>
            <a:endParaRPr lang="en-US" sz="1250" dirty="0"/>
          </a:p>
        </p:txBody>
      </p:sp>
      <p:pic>
        <p:nvPicPr>
          <p:cNvPr id="19" name="Image 4" descr="/home/claude/soap_crop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7452360" y="914400"/>
            <a:ext cx="4069080" cy="3941064"/>
          </a:xfrm>
          <a:prstGeom prst="rect">
            <a:avLst/>
          </a:prstGeom>
        </p:spPr>
      </p:pic>
      <p:sp>
        <p:nvSpPr>
          <p:cNvPr id="20" name="Shape 13"/>
          <p:cNvSpPr/>
          <p:nvPr/>
        </p:nvSpPr>
        <p:spPr>
          <a:xfrm>
            <a:off x="7452360" y="914400"/>
            <a:ext cx="4069080" cy="3941064"/>
          </a:xfrm>
          <a:prstGeom prst="rect">
            <a:avLst/>
          </a:prstGeom>
          <a:ln w="25400">
            <a:solidFill>
              <a:srgbClr val="C89B3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4"/>
          <p:cNvSpPr/>
          <p:nvPr/>
        </p:nvSpPr>
        <p:spPr>
          <a:xfrm>
            <a:off x="7452360" y="4983480"/>
            <a:ext cx="4069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6B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Handcrafted Saffron Bathing Bar</a:t>
            </a:r>
            <a:endParaRPr lang="en-US" sz="1150" dirty="0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20AD37FA-8DF7-FEBE-B3A1-A50C7C1E496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52360" y="934927"/>
            <a:ext cx="4148857" cy="389086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1296" y="374904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B4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CHALLENGE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8A3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Making, packaging, and dreaming were the easy parts.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40080" y="1783080"/>
            <a:ext cx="63093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2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real struggle began when it was time to step out — to introduce OPPER to the market and earn the trust of customers who had never heard the name before. Every conversation, every rejection, every small "yes" was a lesson in persistence.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611880"/>
            <a:ext cx="6309360" cy="1691640"/>
          </a:xfrm>
          <a:prstGeom prst="roundRect">
            <a:avLst>
              <a:gd name="adj" fmla="val 5405"/>
            </a:avLst>
          </a:prstGeom>
          <a:solidFill>
            <a:srgbClr val="3B4A2B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6" name="Image 0" descr="/home/claude/opper_deck/icon_road_go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" cy="9144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3794760"/>
            <a:ext cx="516636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i="1" dirty="0">
                <a:solidFill>
                  <a:srgbClr val="F5EF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"Struggles are for real — but they are also where an entrepreneur is truly built."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8138160" y="141732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B4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Entering the Market</a:t>
            </a:r>
            <a:endParaRPr lang="en-US" sz="1600" dirty="0"/>
          </a:p>
        </p:txBody>
      </p:sp>
      <p:sp>
        <p:nvSpPr>
          <p:cNvPr id="10" name="Shape 6"/>
          <p:cNvSpPr/>
          <p:nvPr/>
        </p:nvSpPr>
        <p:spPr>
          <a:xfrm>
            <a:off x="7452360" y="1901952"/>
            <a:ext cx="91440" cy="91440"/>
          </a:xfrm>
          <a:prstGeom prst="ellipse">
            <a:avLst/>
          </a:prstGeom>
          <a:solidFill>
            <a:srgbClr val="C89B3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7"/>
          <p:cNvSpPr/>
          <p:nvPr/>
        </p:nvSpPr>
        <p:spPr>
          <a:xfrm>
            <a:off x="7680960" y="1755648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brand recognition on day one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7452360" y="2679192"/>
            <a:ext cx="91440" cy="91440"/>
          </a:xfrm>
          <a:prstGeom prst="ellipse">
            <a:avLst/>
          </a:prstGeom>
          <a:solidFill>
            <a:srgbClr val="C89B3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9"/>
          <p:cNvSpPr/>
          <p:nvPr/>
        </p:nvSpPr>
        <p:spPr>
          <a:xfrm>
            <a:off x="7680960" y="2532888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Convincing customers to trust a new, handmade product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7452360" y="3456432"/>
            <a:ext cx="91440" cy="91440"/>
          </a:xfrm>
          <a:prstGeom prst="ellipse">
            <a:avLst/>
          </a:prstGeom>
          <a:solidFill>
            <a:srgbClr val="C89B3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1"/>
          <p:cNvSpPr/>
          <p:nvPr/>
        </p:nvSpPr>
        <p:spPr>
          <a:xfrm>
            <a:off x="7680960" y="3310128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distribution one relationship at a time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502920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B4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WITH PURPOSE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8A3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brands, one belief — wellness and thoughtfulness in everyday life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212080" cy="4297680"/>
          </a:xfrm>
          <a:prstGeom prst="roundRect">
            <a:avLst>
              <a:gd name="adj" fmla="val 2128"/>
            </a:avLst>
          </a:prstGeom>
          <a:solidFill>
            <a:srgbClr val="F4EFE3"/>
          </a:solidFill>
          <a:ln/>
          <a:effectLst>
            <a:outerShdw blurRad="101600" dist="38100" dir="27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5" name="Image 0" descr="/home/claude/opper_deck/icon_spa_oliv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" cy="9144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00200" y="196596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3B4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OPPER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1600200" y="237744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A3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Organic Soap &amp; Skincare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960120" y="2880360"/>
            <a:ext cx="4617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2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Handmade, pure, and organic saffron soap crafted with goat milk and ayurvedic herbs. Natural, chemical-free skincare for everyday nourishment.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960120" y="4160520"/>
            <a:ext cx="896112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89B3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7"/>
          <p:cNvSpPr/>
          <p:nvPr/>
        </p:nvSpPr>
        <p:spPr>
          <a:xfrm>
            <a:off x="960120" y="4160520"/>
            <a:ext cx="8961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B4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1993392" y="4160520"/>
            <a:ext cx="978408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89B3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9"/>
          <p:cNvSpPr/>
          <p:nvPr/>
        </p:nvSpPr>
        <p:spPr>
          <a:xfrm>
            <a:off x="1993392" y="4160520"/>
            <a:ext cx="9784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B4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Handmade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3108960" y="4160520"/>
            <a:ext cx="1389888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89B3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1"/>
          <p:cNvSpPr/>
          <p:nvPr/>
        </p:nvSpPr>
        <p:spPr>
          <a:xfrm>
            <a:off x="3108960" y="4160520"/>
            <a:ext cx="13898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B4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Made in India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6172200" y="1691640"/>
            <a:ext cx="5349240" cy="4297680"/>
          </a:xfrm>
          <a:prstGeom prst="roundRect">
            <a:avLst>
              <a:gd name="adj" fmla="val 2128"/>
            </a:avLst>
          </a:prstGeom>
          <a:solidFill>
            <a:srgbClr val="F4EFE3"/>
          </a:solidFill>
          <a:ln/>
          <a:effectLst>
            <a:outerShdw blurRad="101600" dist="38100" dir="27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6" name="Image 1" descr="/home/claude/opper_deck/icon_gift_oliv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14400" cy="91440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7132320" y="196596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3B4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GEET</a:t>
            </a:r>
            <a:endParaRPr lang="en-US" sz="2000" dirty="0"/>
          </a:p>
        </p:txBody>
      </p:sp>
      <p:sp>
        <p:nvSpPr>
          <p:cNvPr id="18" name="Text 14"/>
          <p:cNvSpPr/>
          <p:nvPr/>
        </p:nvSpPr>
        <p:spPr>
          <a:xfrm>
            <a:off x="7132320" y="237744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A3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Gifting Solutions — "Feel the Love"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6492240" y="2880360"/>
            <a:ext cx="47548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2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Thoughtfulness meets sustainability. Eco-friendly, personalized gifting solutions for every occasion — spreading love while caring for our planet.</a:t>
            </a:r>
            <a:endParaRPr lang="en-US" sz="1300" dirty="0"/>
          </a:p>
        </p:txBody>
      </p:sp>
      <p:sp>
        <p:nvSpPr>
          <p:cNvPr id="20" name="Shape 16"/>
          <p:cNvSpPr/>
          <p:nvPr/>
        </p:nvSpPr>
        <p:spPr>
          <a:xfrm>
            <a:off x="6492240" y="4160520"/>
            <a:ext cx="1307592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89B3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7"/>
          <p:cNvSpPr/>
          <p:nvPr/>
        </p:nvSpPr>
        <p:spPr>
          <a:xfrm>
            <a:off x="6492240" y="4160520"/>
            <a:ext cx="13075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B4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Eco-friendly</a:t>
            </a:r>
            <a:endParaRPr lang="en-US" sz="1050" dirty="0"/>
          </a:p>
        </p:txBody>
      </p:sp>
      <p:sp>
        <p:nvSpPr>
          <p:cNvPr id="22" name="Shape 18"/>
          <p:cNvSpPr/>
          <p:nvPr/>
        </p:nvSpPr>
        <p:spPr>
          <a:xfrm>
            <a:off x="7936992" y="4160520"/>
            <a:ext cx="1307592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89B3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19"/>
          <p:cNvSpPr/>
          <p:nvPr/>
        </p:nvSpPr>
        <p:spPr>
          <a:xfrm>
            <a:off x="7936992" y="4160520"/>
            <a:ext cx="13075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B4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</a:t>
            </a:r>
            <a:endParaRPr lang="en-US" sz="1050" dirty="0"/>
          </a:p>
        </p:txBody>
      </p:sp>
      <p:sp>
        <p:nvSpPr>
          <p:cNvPr id="24" name="Shape 20"/>
          <p:cNvSpPr/>
          <p:nvPr/>
        </p:nvSpPr>
        <p:spPr>
          <a:xfrm>
            <a:off x="9381744" y="4160520"/>
            <a:ext cx="1719072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89B3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1"/>
          <p:cNvSpPr/>
          <p:nvPr/>
        </p:nvSpPr>
        <p:spPr>
          <a:xfrm>
            <a:off x="9381744" y="4160520"/>
            <a:ext cx="17190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B4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Corporate Gifting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3B4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DRIVES ME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0" cy="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2606040" cy="4206240"/>
          </a:xfrm>
          <a:prstGeom prst="roundRect">
            <a:avLst>
              <a:gd name="adj" fmla="val 4211"/>
            </a:avLst>
          </a:prstGeom>
          <a:solidFill>
            <a:srgbClr val="F4EFE3"/>
          </a:solidFill>
          <a:ln/>
          <a:effectLst>
            <a:outerShdw blurRad="101600" dist="38100" dir="27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1508760" y="1783080"/>
            <a:ext cx="868680" cy="868680"/>
          </a:xfrm>
          <a:prstGeom prst="ellipse">
            <a:avLst/>
          </a:prstGeom>
          <a:solidFill>
            <a:srgbClr val="3B4A2B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6" name="Image 0" descr="/home/claude/opper_deck/icon_heart_go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1640" y="1985554"/>
            <a:ext cx="529046" cy="52904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288036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B4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PASSION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22960" y="3337560"/>
            <a:ext cx="224028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150" dirty="0">
                <a:solidFill>
                  <a:srgbClr val="2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natural living, sustainable products &amp; meaningful impact.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3401568" y="1417320"/>
            <a:ext cx="2606040" cy="4206240"/>
          </a:xfrm>
          <a:prstGeom prst="roundRect">
            <a:avLst>
              <a:gd name="adj" fmla="val 4211"/>
            </a:avLst>
          </a:prstGeom>
          <a:solidFill>
            <a:srgbClr val="F4EFE3"/>
          </a:solidFill>
          <a:ln/>
          <a:effectLst>
            <a:outerShdw blurRad="101600" dist="38100" dir="27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7"/>
          <p:cNvSpPr/>
          <p:nvPr/>
        </p:nvSpPr>
        <p:spPr>
          <a:xfrm>
            <a:off x="4270248" y="1783080"/>
            <a:ext cx="868680" cy="868680"/>
          </a:xfrm>
          <a:prstGeom prst="ellipse">
            <a:avLst/>
          </a:prstGeom>
          <a:solidFill>
            <a:srgbClr val="3B4A2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8"/>
          <p:cNvSpPr/>
          <p:nvPr/>
        </p:nvSpPr>
        <p:spPr>
          <a:xfrm>
            <a:off x="3538728" y="288036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B4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PURPOSE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3584448" y="3337560"/>
            <a:ext cx="224028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150" dirty="0">
                <a:solidFill>
                  <a:srgbClr val="2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create brands that uplift lives and give back to the community.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6163056" y="1417320"/>
            <a:ext cx="2606040" cy="4206240"/>
          </a:xfrm>
          <a:prstGeom prst="roundRect">
            <a:avLst>
              <a:gd name="adj" fmla="val 4211"/>
            </a:avLst>
          </a:prstGeom>
          <a:solidFill>
            <a:srgbClr val="F4EFE3"/>
          </a:solidFill>
          <a:ln/>
          <a:effectLst>
            <a:outerShdw blurRad="101600" dist="38100" dir="27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Shape 11"/>
          <p:cNvSpPr/>
          <p:nvPr/>
        </p:nvSpPr>
        <p:spPr>
          <a:xfrm>
            <a:off x="7031736" y="1783080"/>
            <a:ext cx="868680" cy="868680"/>
          </a:xfrm>
          <a:prstGeom prst="ellipse">
            <a:avLst/>
          </a:prstGeom>
          <a:solidFill>
            <a:srgbClr val="3B4A2B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6" name="Image 2" descr="/home/claude/opper_deck/icon_balance_gol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14616" y="1943100"/>
            <a:ext cx="502920" cy="5029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300216" y="288036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B4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BALANCE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6345936" y="3337560"/>
            <a:ext cx="224028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150" dirty="0">
                <a:solidFill>
                  <a:srgbClr val="2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Managing a professional career and entrepreneurial journey with grace.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8924544" y="1417320"/>
            <a:ext cx="2606040" cy="4206240"/>
          </a:xfrm>
          <a:prstGeom prst="roundRect">
            <a:avLst>
              <a:gd name="adj" fmla="val 4211"/>
            </a:avLst>
          </a:prstGeom>
          <a:solidFill>
            <a:srgbClr val="F4EFE3"/>
          </a:solidFill>
          <a:ln/>
          <a:effectLst>
            <a:outerShdw blurRad="101600" dist="38100" dir="27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Shape 15"/>
          <p:cNvSpPr/>
          <p:nvPr/>
        </p:nvSpPr>
        <p:spPr>
          <a:xfrm>
            <a:off x="9793224" y="1783080"/>
            <a:ext cx="868680" cy="868680"/>
          </a:xfrm>
          <a:prstGeom prst="ellipse">
            <a:avLst/>
          </a:prstGeom>
          <a:solidFill>
            <a:srgbClr val="3B4A2B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1" name="Image 3" descr="/home/claude/opper_deck/icon_leaf_gol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85786" y="1930038"/>
            <a:ext cx="437604" cy="43760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061704" y="288036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B4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BELIEF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9107424" y="3337560"/>
            <a:ext cx="224028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150" dirty="0">
                <a:solidFill>
                  <a:srgbClr val="2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small steps toward wellness create a big change in life.</a:t>
            </a:r>
            <a:endParaRPr lang="en-US" sz="1150" dirty="0"/>
          </a:p>
        </p:txBody>
      </p:sp>
      <p:pic>
        <p:nvPicPr>
          <p:cNvPr id="11" name="Image 1" descr="/home/claude/opper_deck/icon_bullseye_gol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79532" y="1869388"/>
            <a:ext cx="696064" cy="6960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88295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3B4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MESSAGE I WANT TO LEAVE YOU WITH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5212080" cy="4480560"/>
          </a:xfrm>
          <a:prstGeom prst="roundRect">
            <a:avLst>
              <a:gd name="adj" fmla="val 2041"/>
            </a:avLst>
          </a:prstGeom>
          <a:solidFill>
            <a:srgbClr val="F4EFE3"/>
          </a:solidFill>
          <a:ln/>
          <a:effectLst>
            <a:outerShdw blurRad="101600" dist="38100" dir="27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Text 2"/>
          <p:cNvSpPr/>
          <p:nvPr/>
        </p:nvSpPr>
        <p:spPr>
          <a:xfrm>
            <a:off x="960120" y="237744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B4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Dreaming is a choice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960120" y="2880360"/>
            <a:ext cx="457200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450" dirty="0">
                <a:solidFill>
                  <a:srgbClr val="2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or big, dreaming to become what you wish is an individual choice. Nobody can make that decision for you — and nobody can take it away from you either.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6172200" y="1371600"/>
            <a:ext cx="5349240" cy="4480560"/>
          </a:xfrm>
          <a:prstGeom prst="roundRect">
            <a:avLst>
              <a:gd name="adj" fmla="val 2041"/>
            </a:avLst>
          </a:prstGeom>
          <a:solidFill>
            <a:srgbClr val="3B4A2B"/>
          </a:solidFill>
          <a:ln/>
          <a:effectLst>
            <a:outerShdw blurRad="101600" dist="38100" dir="27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8" name="Image 1" descr="/home/claude/opper_deck/icon_shield_go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020" y="45720"/>
            <a:ext cx="914400" cy="9144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492240" y="2377440"/>
            <a:ext cx="4709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89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 ready for the struggle</a:t>
            </a:r>
            <a:endParaRPr lang="en-US" sz="1800" dirty="0"/>
          </a:p>
        </p:txBody>
      </p:sp>
      <p:sp>
        <p:nvSpPr>
          <p:cNvPr id="10" name="Text 6"/>
          <p:cNvSpPr/>
          <p:nvPr/>
        </p:nvSpPr>
        <p:spPr>
          <a:xfrm>
            <a:off x="6492240" y="2880360"/>
            <a:ext cx="470916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450" dirty="0">
                <a:solidFill>
                  <a:srgbClr val="F5E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Whatever you choose to build, be ready to face challenges — the struggles are real. Every rejection, every slow month, every hard conversation is part of the price of building something true.</a:t>
            </a:r>
            <a:endParaRPr lang="en-US" sz="14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15941" y="581530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B4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WE STAND TODAY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8A3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built one trusted customer at a time.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60350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550" dirty="0">
                <a:solidFill>
                  <a:srgbClr val="2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one of these relationships was earned offline — in person, through word of mouth, through trust built bar by bar. No shortcuts, just consistency.</a:t>
            </a:r>
            <a:endParaRPr lang="en-US" sz="1550" dirty="0"/>
          </a:p>
        </p:txBody>
      </p:sp>
      <p:pic>
        <p:nvPicPr>
          <p:cNvPr id="5" name="Image 0" descr="/home/claude/opper_deck/icon_chart_ru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50280" y="992776"/>
            <a:ext cx="777240" cy="7772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34440" y="448056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6B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Steady, relationship-led growth — no paid ads, just trust.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7208520" y="1371600"/>
            <a:ext cx="4343400" cy="3566160"/>
          </a:xfrm>
          <a:prstGeom prst="roundRect">
            <a:avLst>
              <a:gd name="adj" fmla="val 3077"/>
            </a:avLst>
          </a:prstGeom>
          <a:solidFill>
            <a:srgbClr val="3B4A2B"/>
          </a:solidFill>
          <a:ln/>
          <a:effectLst>
            <a:outerShdw blurRad="101600" dist="38100" dir="27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pic>
        <p:nvPicPr>
          <p:cNvPr id="8" name="Image 1" descr="/home/claude/opper_deck/icon_users_gol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880" y="12363"/>
            <a:ext cx="914400" cy="9144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040880" y="1600200"/>
            <a:ext cx="349866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400" b="1" dirty="0">
                <a:solidFill>
                  <a:srgbClr val="C89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500+ </a:t>
            </a:r>
            <a:endParaRPr lang="en-US" sz="6400" dirty="0"/>
          </a:p>
        </p:txBody>
      </p:sp>
      <p:sp>
        <p:nvSpPr>
          <p:cNvPr id="10" name="Text 6"/>
          <p:cNvSpPr/>
          <p:nvPr/>
        </p:nvSpPr>
        <p:spPr>
          <a:xfrm>
            <a:off x="7696200" y="1551214"/>
            <a:ext cx="4343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7040880" y="2164236"/>
            <a:ext cx="4343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F5E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growing, one conversation at a time</a:t>
            </a:r>
            <a:endParaRPr lang="en-US" sz="120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4A492AA8-B6BF-86DC-6949-53BCDADA53C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4821" y="2737524"/>
            <a:ext cx="3175518" cy="211701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26C11C4-CF30-D7AB-C449-E11CDB1C22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060" y="0"/>
            <a:ext cx="4510708" cy="321409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69BB16E-3DB3-AFF7-94BF-CEFCBBF3A2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085" y="3214091"/>
            <a:ext cx="4968671" cy="355884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577F9EE-DCCD-D802-FA65-136947A44D9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45490" y="177281"/>
            <a:ext cx="5034003" cy="6055567"/>
          </a:xfrm>
          <a:prstGeom prst="rect">
            <a:avLst/>
          </a:prstGeom>
        </p:spPr>
      </p:pic>
      <p:pic>
        <p:nvPicPr>
          <p:cNvPr id="9" name="Image 0" descr="/home/claude/opper_deck/icon_smile_gold.png">
            <a:extLst>
              <a:ext uri="{FF2B5EF4-FFF2-40B4-BE49-F238E27FC236}">
                <a16:creationId xmlns:a16="http://schemas.microsoft.com/office/drawing/2014/main" id="{1FCD3220-49A0-3EB4-22AB-F6A2A023014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66297" y="0"/>
            <a:ext cx="661540" cy="66154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8668958-1730-5BD6-A195-1878B74C70A5}"/>
              </a:ext>
            </a:extLst>
          </p:cNvPr>
          <p:cNvSpPr txBox="1"/>
          <p:nvPr/>
        </p:nvSpPr>
        <p:spPr>
          <a:xfrm>
            <a:off x="4334781" y="292208"/>
            <a:ext cx="11367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Testimony</a:t>
            </a:r>
          </a:p>
        </p:txBody>
      </p:sp>
    </p:spTree>
    <p:extLst>
      <p:ext uri="{BB962C8B-B14F-4D97-AF65-F5344CB8AC3E}">
        <p14:creationId xmlns:p14="http://schemas.microsoft.com/office/powerpoint/2010/main" val="4122926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3B4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1371600"/>
            <a:ext cx="4572000" cy="4572000"/>
          </a:xfrm>
          <a:prstGeom prst="ellipse">
            <a:avLst/>
          </a:prstGeom>
          <a:solidFill>
            <a:srgbClr val="C89B3C">
              <a:alpha val="10000"/>
            </a:srgbClr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" name="Image 0" descr="/home/claude/opper_deck/icon_smile_go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538" y="150223"/>
            <a:ext cx="661540" cy="6615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23851" y="13996"/>
            <a:ext cx="9601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C89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But happiness is endless.</a:t>
            </a:r>
            <a:endParaRPr lang="en-US" sz="4200" dirty="0"/>
          </a:p>
        </p:txBody>
      </p:sp>
      <p:sp>
        <p:nvSpPr>
          <p:cNvPr id="5" name="Text 2"/>
          <p:cNvSpPr/>
          <p:nvPr/>
        </p:nvSpPr>
        <p:spPr>
          <a:xfrm>
            <a:off x="4707539" y="3602261"/>
            <a:ext cx="89611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struggles are real, yes — but so is the joy of building something from nothing,</a:t>
            </a:r>
          </a:p>
          <a:p>
            <a:pPr marL="0" indent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of watching a single idea turn into 500 relationships and recognition. </a:t>
            </a:r>
          </a:p>
          <a:p>
            <a:pPr marL="0" indent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joy never runs out.</a:t>
            </a:r>
          </a:p>
          <a:p>
            <a:pPr marL="0" indent="0">
              <a:lnSpc>
                <a:spcPct val="135000"/>
              </a:lnSpc>
              <a:buNone/>
            </a:pPr>
            <a:endParaRPr lang="en-US" sz="1600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lnSpc>
                <a:spcPct val="135000"/>
              </a:lnSpc>
              <a:buNone/>
            </a:pPr>
            <a:endParaRPr lang="en-US" sz="16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F1F8884-178E-B758-DD95-6FD6FA277A3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5307" y="1035115"/>
            <a:ext cx="4436194" cy="4330570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3E8076F-9D7D-275B-04D8-1D667C8EB2DD}"/>
              </a:ext>
            </a:extLst>
          </p:cNvPr>
          <p:cNvSpPr txBox="1"/>
          <p:nvPr/>
        </p:nvSpPr>
        <p:spPr>
          <a:xfrm>
            <a:off x="4707539" y="1530396"/>
            <a:ext cx="6764694" cy="20577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</a:pPr>
            <a:r>
              <a:rPr lang="en-US" sz="16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Ajji</a:t>
            </a: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Ruchi aims to bring authentic grandmother-style flavors to modern kitchens. With growing demand for traditional foods and a strong brand story, the business has strong potential for expansion and profitability.</a:t>
            </a:r>
          </a:p>
          <a:p>
            <a:pPr>
              <a:lnSpc>
                <a:spcPct val="135000"/>
              </a:lnSpc>
            </a:pPr>
            <a:endParaRPr lang="en-US" sz="1600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>
              <a:lnSpc>
                <a:spcPct val="135000"/>
              </a:lnSpc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@Ajjiruchi - 7338644404 </a:t>
            </a:r>
          </a:p>
          <a:p>
            <a:pPr>
              <a:lnSpc>
                <a:spcPct val="135000"/>
              </a:lnSpc>
            </a:pPr>
            <a:endParaRPr lang="en-US" sz="1600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3B4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-1097280"/>
            <a:ext cx="3657600" cy="3657600"/>
          </a:xfrm>
          <a:prstGeom prst="ellipse">
            <a:avLst/>
          </a:prstGeom>
          <a:solidFill>
            <a:srgbClr val="C89B3C">
              <a:alpha val="1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9875520" y="4389120"/>
            <a:ext cx="3291840" cy="3291840"/>
          </a:xfrm>
          <a:prstGeom prst="ellipse">
            <a:avLst/>
          </a:prstGeom>
          <a:solidFill>
            <a:srgbClr val="C89B3C">
              <a:alpha val="1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1097280" y="5943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kern="0" spc="300" dirty="0">
                <a:solidFill>
                  <a:srgbClr val="F5E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MOMENTS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097280" y="1024128"/>
            <a:ext cx="10058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C89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Recognition Along the Way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160020" y="1788033"/>
            <a:ext cx="4480560" cy="2263902"/>
          </a:xfrm>
          <a:prstGeom prst="roundRect">
            <a:avLst>
              <a:gd name="adj" fmla="val 2985"/>
            </a:avLst>
          </a:prstGeom>
          <a:solidFill>
            <a:srgbClr val="2B3620"/>
          </a:solidFill>
          <a:ln w="12700">
            <a:solidFill>
              <a:srgbClr val="C89B3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7" name="Image 0" descr="/home/claude/opper_deck/icon_award_go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" cy="9144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28600" y="2038922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Adya Foundation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297180" y="2532126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C89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Startup Award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365760" y="2919984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150" dirty="0">
                <a:solidFill>
                  <a:srgbClr val="F5E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building OPPER from a handmade idea into a growing brand.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6812280" y="1784605"/>
            <a:ext cx="4480560" cy="2301621"/>
          </a:xfrm>
          <a:prstGeom prst="roundRect">
            <a:avLst>
              <a:gd name="adj" fmla="val 2985"/>
            </a:avLst>
          </a:prstGeom>
          <a:solidFill>
            <a:srgbClr val="2B3620"/>
          </a:solidFill>
          <a:ln w="12700">
            <a:solidFill>
              <a:srgbClr val="C89B3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2" name="Image 1" descr="/home/claude/opper_deck/icon_award_go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" cy="9144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949440" y="210312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Anshu Foundation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7498080" y="2463165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C89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Powerful Women Achiever Award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7680960" y="2953512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150" dirty="0">
                <a:solidFill>
                  <a:srgbClr val="F5E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leading with purpose as a woman entrepreneur and motivator.</a:t>
            </a:r>
            <a:endParaRPr lang="en-US" sz="1150" dirty="0"/>
          </a:p>
        </p:txBody>
      </p:sp>
      <p:sp>
        <p:nvSpPr>
          <p:cNvPr id="16" name="Text 12"/>
          <p:cNvSpPr/>
          <p:nvPr/>
        </p:nvSpPr>
        <p:spPr>
          <a:xfrm>
            <a:off x="1828800" y="5833872"/>
            <a:ext cx="8503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400" dirty="0">
                <a:solidFill>
                  <a:srgbClr val="F5E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recognitions validated what I had believed all along — that a small, idea, built with honest and care, could earn a place on a bigger stage.</a:t>
            </a:r>
            <a:endParaRPr lang="en-US" sz="1400" dirty="0"/>
          </a:p>
        </p:txBody>
      </p:sp>
      <p:sp>
        <p:nvSpPr>
          <p:cNvPr id="18" name="Shape 4">
            <a:extLst>
              <a:ext uri="{FF2B5EF4-FFF2-40B4-BE49-F238E27FC236}">
                <a16:creationId xmlns:a16="http://schemas.microsoft.com/office/drawing/2014/main" id="{C90CBDDF-9367-A602-7D76-1650DC0BE7AB}"/>
              </a:ext>
            </a:extLst>
          </p:cNvPr>
          <p:cNvSpPr/>
          <p:nvPr/>
        </p:nvSpPr>
        <p:spPr>
          <a:xfrm>
            <a:off x="3509010" y="3597783"/>
            <a:ext cx="4480560" cy="1983105"/>
          </a:xfrm>
          <a:prstGeom prst="roundRect">
            <a:avLst>
              <a:gd name="adj" fmla="val 2985"/>
            </a:avLst>
          </a:prstGeom>
          <a:solidFill>
            <a:srgbClr val="2B3620"/>
          </a:solidFill>
          <a:ln w="12700">
            <a:solidFill>
              <a:srgbClr val="C89B3C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22" name="Text 5">
            <a:extLst>
              <a:ext uri="{FF2B5EF4-FFF2-40B4-BE49-F238E27FC236}">
                <a16:creationId xmlns:a16="http://schemas.microsoft.com/office/drawing/2014/main" id="{0246D2BD-AED0-EFB1-2F72-EC63F66E7EA3}"/>
              </a:ext>
            </a:extLst>
          </p:cNvPr>
          <p:cNvSpPr/>
          <p:nvPr/>
        </p:nvSpPr>
        <p:spPr>
          <a:xfrm>
            <a:off x="3749040" y="384029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Sri Adya and </a:t>
            </a:r>
            <a:r>
              <a:rPr lang="en-US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VWMCs </a:t>
            </a:r>
            <a:endParaRPr lang="en-US" sz="1800" dirty="0"/>
          </a:p>
        </p:txBody>
      </p:sp>
      <p:sp>
        <p:nvSpPr>
          <p:cNvPr id="24" name="Text 6">
            <a:extLst>
              <a:ext uri="{FF2B5EF4-FFF2-40B4-BE49-F238E27FC236}">
                <a16:creationId xmlns:a16="http://schemas.microsoft.com/office/drawing/2014/main" id="{4562024C-64C7-8452-38B6-622BB974CF37}"/>
              </a:ext>
            </a:extLst>
          </p:cNvPr>
          <p:cNvSpPr/>
          <p:nvPr/>
        </p:nvSpPr>
        <p:spPr>
          <a:xfrm>
            <a:off x="3531870" y="4237959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C89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Women Power </a:t>
            </a:r>
            <a:endParaRPr lang="en-US" sz="1500" dirty="0"/>
          </a:p>
        </p:txBody>
      </p:sp>
      <p:sp>
        <p:nvSpPr>
          <p:cNvPr id="26" name="Text 7">
            <a:extLst>
              <a:ext uri="{FF2B5EF4-FFF2-40B4-BE49-F238E27FC236}">
                <a16:creationId xmlns:a16="http://schemas.microsoft.com/office/drawing/2014/main" id="{DCD4D50F-8AE3-4F9E-4870-4A1772F1083B}"/>
              </a:ext>
            </a:extLst>
          </p:cNvPr>
          <p:cNvSpPr/>
          <p:nvPr/>
        </p:nvSpPr>
        <p:spPr>
          <a:xfrm>
            <a:off x="3714750" y="4565714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150" dirty="0">
                <a:solidFill>
                  <a:srgbClr val="F5E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Honoring Women , Empowering Future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B4A2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4B7FF9D-3757-8AD3-360B-E2BDB55879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opper_deck/icon_quote_gold.png">
            <a:extLst>
              <a:ext uri="{FF2B5EF4-FFF2-40B4-BE49-F238E27FC236}">
                <a16:creationId xmlns:a16="http://schemas.microsoft.com/office/drawing/2014/main" id="{6E40A911-5E85-86DB-2D54-55F2BF6862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" cy="91440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288FA7E8-5CA0-14A0-1829-D9BAB82E5088}"/>
              </a:ext>
            </a:extLst>
          </p:cNvPr>
          <p:cNvSpPr/>
          <p:nvPr/>
        </p:nvSpPr>
        <p:spPr>
          <a:xfrm>
            <a:off x="4499610" y="2846170"/>
            <a:ext cx="1763491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500" dirty="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92FD7F62-2213-CDAD-828D-1662DA0CFD69}"/>
              </a:ext>
            </a:extLst>
          </p:cNvPr>
          <p:cNvSpPr/>
          <p:nvPr/>
        </p:nvSpPr>
        <p:spPr>
          <a:xfrm>
            <a:off x="3337560" y="3965377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600" dirty="0"/>
          </a:p>
        </p:txBody>
      </p:sp>
      <p:sp>
        <p:nvSpPr>
          <p:cNvPr id="9" name="Text 9">
            <a:extLst>
              <a:ext uri="{FF2B5EF4-FFF2-40B4-BE49-F238E27FC236}">
                <a16:creationId xmlns:a16="http://schemas.microsoft.com/office/drawing/2014/main" id="{C1607C4A-622E-0636-2311-F55047736E2D}"/>
              </a:ext>
            </a:extLst>
          </p:cNvPr>
          <p:cNvSpPr/>
          <p:nvPr/>
        </p:nvSpPr>
        <p:spPr>
          <a:xfrm>
            <a:off x="2691881" y="202226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730C6D5-A188-75AF-5106-F1A2D1925A60}"/>
              </a:ext>
            </a:extLst>
          </p:cNvPr>
          <p:cNvSpPr txBox="1"/>
          <p:nvPr/>
        </p:nvSpPr>
        <p:spPr>
          <a:xfrm>
            <a:off x="818761" y="5741375"/>
            <a:ext cx="324841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4000" b="1" dirty="0">
                <a:solidFill>
                  <a:srgbClr val="C89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08803D9-CFBB-097B-FE1A-4BE585D43AA1}"/>
              </a:ext>
            </a:extLst>
          </p:cNvPr>
          <p:cNvSpPr txBox="1"/>
          <p:nvPr/>
        </p:nvSpPr>
        <p:spPr>
          <a:xfrm>
            <a:off x="165547" y="4905924"/>
            <a:ext cx="6097554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Opper – products </a:t>
            </a:r>
          </a:p>
          <a:p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Goat milk Saffron</a:t>
            </a:r>
          </a:p>
          <a:p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Carrot and shea butter – also available as gift combo for all your loved one’s event.</a:t>
            </a:r>
            <a:endParaRPr lang="en-IN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FE52CE45-339B-0A72-1C6C-88379A26915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959" y="130629"/>
            <a:ext cx="3676261" cy="354563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EABECCB-4D32-526D-EC5E-D213DB869BC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35202" y="820950"/>
            <a:ext cx="4352465" cy="435246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8EE1507-420F-EEF4-33D8-47FBFD035FC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06375" y="2105338"/>
            <a:ext cx="3720078" cy="37200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351465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3B4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opper_deck/icon_quote_go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" cy="9144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499610" y="2846170"/>
            <a:ext cx="1763491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kern="0" spc="300" dirty="0">
                <a:solidFill>
                  <a:srgbClr val="F5E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MANTRA</a:t>
            </a:r>
            <a:endParaRPr lang="en-US" sz="1500" dirty="0"/>
          </a:p>
        </p:txBody>
      </p:sp>
      <p:sp>
        <p:nvSpPr>
          <p:cNvPr id="4" name="Text 1"/>
          <p:cNvSpPr/>
          <p:nvPr/>
        </p:nvSpPr>
        <p:spPr>
          <a:xfrm>
            <a:off x="3170521" y="2744133"/>
            <a:ext cx="7682865" cy="86774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endParaRPr lang="en-US" sz="3200" b="1" i="1" dirty="0">
              <a:solidFill>
                <a:srgbClr val="C89B3C"/>
              </a:solidFill>
              <a:latin typeface="Cambria" pitchFamily="34" charset="0"/>
              <a:ea typeface="Cambria" pitchFamily="34" charset="-122"/>
              <a:cs typeface="Cambria" pitchFamily="34" charset="-120"/>
            </a:endParaRPr>
          </a:p>
          <a:p>
            <a:pPr marL="0" indent="0">
              <a:lnSpc>
                <a:spcPct val="130000"/>
              </a:lnSpc>
              <a:buNone/>
            </a:pPr>
            <a:endParaRPr lang="en-US" sz="3200" b="1" i="1" dirty="0">
              <a:solidFill>
                <a:srgbClr val="C89B3C"/>
              </a:solidFill>
              <a:latin typeface="Cambria" pitchFamily="34" charset="0"/>
              <a:ea typeface="Cambria" pitchFamily="34" charset="-122"/>
              <a:cs typeface="Cambria" pitchFamily="34" charset="-120"/>
            </a:endParaRPr>
          </a:p>
          <a:p>
            <a:pPr marL="0" indent="0">
              <a:lnSpc>
                <a:spcPct val="130000"/>
              </a:lnSpc>
              <a:buNone/>
            </a:pPr>
            <a:r>
              <a:rPr lang="en-US" sz="3200" b="1" i="1" dirty="0">
                <a:solidFill>
                  <a:srgbClr val="C89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</a:t>
            </a:r>
            <a:r>
              <a:rPr lang="en-US" sz="2000" b="1" i="1" dirty="0">
                <a:solidFill>
                  <a:srgbClr val="C89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Take care of your body,</a:t>
            </a:r>
            <a:r>
              <a:rPr lang="en-US" sz="2000" dirty="0"/>
              <a:t> </a:t>
            </a:r>
            <a:r>
              <a:rPr lang="en-US" sz="2000" b="1" i="1" dirty="0">
                <a:solidFill>
                  <a:srgbClr val="C89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It's the only place you have to live in.”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3337560" y="3965377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build a healthier, happier, and more empowered world — together.</a:t>
            </a:r>
            <a:endParaRPr lang="en-US" sz="16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6606DB4-2574-1D76-9F5D-9141E4A977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71975" y="567986"/>
            <a:ext cx="4791126" cy="2176147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9" name="Text 9">
            <a:extLst>
              <a:ext uri="{FF2B5EF4-FFF2-40B4-BE49-F238E27FC236}">
                <a16:creationId xmlns:a16="http://schemas.microsoft.com/office/drawing/2014/main" id="{10A79521-621E-E533-A443-FB51E1009529}"/>
              </a:ext>
            </a:extLst>
          </p:cNvPr>
          <p:cNvSpPr/>
          <p:nvPr/>
        </p:nvSpPr>
        <p:spPr>
          <a:xfrm>
            <a:off x="2691881" y="202226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F5E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OPPER — Gentle Touch, Naturally</a:t>
            </a:r>
            <a:endParaRPr lang="en-US" sz="12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F928AD9-EF4A-9E7C-7C71-780C6BDBA544}"/>
              </a:ext>
            </a:extLst>
          </p:cNvPr>
          <p:cNvSpPr txBox="1"/>
          <p:nvPr/>
        </p:nvSpPr>
        <p:spPr>
          <a:xfrm>
            <a:off x="818761" y="5741375"/>
            <a:ext cx="324841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4000" b="1" dirty="0">
                <a:solidFill>
                  <a:srgbClr val="C89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48EE73B-0776-C590-DEB4-7C07BB855479}"/>
              </a:ext>
            </a:extLst>
          </p:cNvPr>
          <p:cNvSpPr txBox="1"/>
          <p:nvPr/>
        </p:nvSpPr>
        <p:spPr>
          <a:xfrm>
            <a:off x="914400" y="5393475"/>
            <a:ext cx="609755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Instagram: Opper_naturals</a:t>
            </a:r>
            <a:endParaRPr lang="en-IN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D5F05CD-1752-5A48-5B2B-841CE611D0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931559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1C2FEE0-9DDC-F866-718C-DA465E080E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0686" y="401216"/>
            <a:ext cx="6161314" cy="61861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14537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4143</TotalTime>
  <Words>1308</Words>
  <Application>Microsoft Office PowerPoint</Application>
  <PresentationFormat>Widescreen</PresentationFormat>
  <Paragraphs>139</Paragraphs>
  <Slides>17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Arial</vt:lpstr>
      <vt:lpstr>Calibri</vt:lpstr>
      <vt:lpstr>Cambria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OPPER — An Entrepreneurship Journey</dc:title>
  <dc:subject>PptxGenJS Presentation</dc:subject>
  <dc:creator>Geeta</dc:creator>
  <cp:lastModifiedBy>sangudeepu9@outlook.com</cp:lastModifiedBy>
  <cp:revision>32</cp:revision>
  <dcterms:created xsi:type="dcterms:W3CDTF">2026-07-02T03:59:24Z</dcterms:created>
  <dcterms:modified xsi:type="dcterms:W3CDTF">2026-10-02T08:56:49Z</dcterms:modified>
</cp:coreProperties>
</file>